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.fntdata"/><Relationship Id="rId6" Type="http://schemas.openxmlformats.org/officeDocument/2006/relationships/slide" Target="slides/slide1.xml"/><Relationship Id="rId18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25a66f4ce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25a66f4ce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25a66f4c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25a66f4c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5a66f4ce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5a66f4c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25a66f4ce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25a66f4ce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25a66f4ce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25a66f4c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25a66f4ce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25a66f4c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Аппроксимация объёма степенной функцией у</a:t>
            </a:r>
            <a:r>
              <a:rPr lang="ru"/>
              <a:t>ровня воды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25a66f4ce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25a66f4ce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25a66f4ce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25a66f4ce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25a66f4ce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25a66f4ce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25a66f4ce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25a66f4ce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25a66f4ce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25a66f4ce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rushydro.ru/inform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011450" y="1847700"/>
            <a:ext cx="71211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2980"/>
              <a:t>Математическая модель изменения</a:t>
            </a:r>
            <a:endParaRPr sz="29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980"/>
              <a:t>уровня воды в водохранилище</a:t>
            </a:r>
            <a:endParaRPr sz="298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Плотников Алексей Сергеевич, 134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420300" y="371975"/>
            <a:ext cx="8329500" cy="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модели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561550" y="1005575"/>
            <a:ext cx="8188200" cy="3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/>
              <a:t>Водохранилище представляет собой водоём, объём воды в котором зависит от множества процессов:</a:t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-"/>
            </a:pPr>
            <a:r>
              <a:rPr lang="ru" sz="2200"/>
              <a:t>Приток воды из питающих рек и подземных источников;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ru" sz="2200"/>
              <a:t>Сброс воды через плотину: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ru" sz="2200"/>
              <a:t>При превышении критического уровня воды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ru" sz="2200"/>
              <a:t>По команде оператора плотины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ru" sz="2200"/>
              <a:t>Атмосферные осадки на поверхность водоёма;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ru" sz="2200"/>
              <a:t>Испарение воды с открытой поверхности;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ru" sz="2200"/>
              <a:t>Фильтрационные потери через почву;</a:t>
            </a:r>
            <a:endParaRPr sz="2200"/>
          </a:p>
        </p:txBody>
      </p:sp>
      <p:sp>
        <p:nvSpPr>
          <p:cNvPr id="136" name="Google Shape;136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420300" y="371975"/>
            <a:ext cx="8329500" cy="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модели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490950" y="2143975"/>
            <a:ext cx="8188200" cy="23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222222"/>
                </a:solidFill>
              </a:rPr>
              <a:t>Q</a:t>
            </a:r>
            <a:r>
              <a:rPr baseline="-25000" lang="ru" sz="2200">
                <a:solidFill>
                  <a:srgbClr val="222222"/>
                </a:solidFill>
              </a:rPr>
              <a:t>in</a:t>
            </a:r>
            <a:r>
              <a:rPr lang="ru" sz="2200">
                <a:solidFill>
                  <a:srgbClr val="222222"/>
                </a:solidFill>
              </a:rPr>
              <a:t>(t) — приток воды в водохранилище</a:t>
            </a:r>
            <a:endParaRPr sz="22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222222"/>
                </a:solidFill>
              </a:rPr>
              <a:t>Q</a:t>
            </a:r>
            <a:r>
              <a:rPr baseline="-25000" lang="ru" sz="2200">
                <a:solidFill>
                  <a:srgbClr val="222222"/>
                </a:solidFill>
              </a:rPr>
              <a:t>out</a:t>
            </a:r>
            <a:r>
              <a:rPr lang="ru" sz="2200">
                <a:solidFill>
                  <a:srgbClr val="222222"/>
                </a:solidFill>
              </a:rPr>
              <a:t>(t) — отток через плотину</a:t>
            </a:r>
            <a:endParaRPr sz="22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222222"/>
                </a:solidFill>
              </a:rPr>
              <a:t>Q</a:t>
            </a:r>
            <a:r>
              <a:rPr baseline="-25000" lang="ru" sz="2200">
                <a:solidFill>
                  <a:srgbClr val="222222"/>
                </a:solidFill>
              </a:rPr>
              <a:t>atm</a:t>
            </a:r>
            <a:r>
              <a:rPr lang="ru" sz="2200">
                <a:solidFill>
                  <a:srgbClr val="222222"/>
                </a:solidFill>
              </a:rPr>
              <a:t>(t) — влияние атмосферы (осадки минус испарение)</a:t>
            </a:r>
            <a:endParaRPr sz="22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200">
                <a:solidFill>
                  <a:srgbClr val="222222"/>
                </a:solidFill>
              </a:rPr>
              <a:t>Q</a:t>
            </a:r>
            <a:r>
              <a:rPr baseline="-25000" lang="ru" sz="2200">
                <a:solidFill>
                  <a:srgbClr val="222222"/>
                </a:solidFill>
              </a:rPr>
              <a:t>loss</a:t>
            </a:r>
            <a:r>
              <a:rPr lang="ru" sz="2200">
                <a:solidFill>
                  <a:srgbClr val="222222"/>
                </a:solidFill>
              </a:rPr>
              <a:t>(t) — количество воды уходящее через почву</a:t>
            </a:r>
            <a:endParaRPr sz="2200">
              <a:solidFill>
                <a:srgbClr val="222222"/>
              </a:solidFill>
            </a:endParaRPr>
          </a:p>
        </p:txBody>
      </p:sp>
      <p:sp>
        <p:nvSpPr>
          <p:cNvPr id="143" name="Google Shape;143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44" name="Google Shape;14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313" y="1124700"/>
            <a:ext cx="7209375" cy="8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420300" y="371975"/>
            <a:ext cx="8329500" cy="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Потери через почву (фильтрация)</a:t>
            </a:r>
            <a:endParaRPr/>
          </a:p>
        </p:txBody>
      </p:sp>
      <p:sp>
        <p:nvSpPr>
          <p:cNvPr id="150" name="Google Shape;150;p16"/>
          <p:cNvSpPr txBox="1"/>
          <p:nvPr>
            <p:ph idx="1" type="body"/>
          </p:nvPr>
        </p:nvSpPr>
        <p:spPr>
          <a:xfrm>
            <a:off x="490950" y="2143975"/>
            <a:ext cx="8188200" cy="12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222222"/>
                </a:solidFill>
              </a:rPr>
              <a:t>k</a:t>
            </a:r>
            <a:r>
              <a:rPr baseline="-25000" lang="ru" sz="2200">
                <a:solidFill>
                  <a:srgbClr val="222222"/>
                </a:solidFill>
              </a:rPr>
              <a:t>f</a:t>
            </a:r>
            <a:r>
              <a:rPr lang="ru" sz="2200">
                <a:solidFill>
                  <a:srgbClr val="222222"/>
                </a:solidFill>
              </a:rPr>
              <a:t> — коэффициент фильтрации*</a:t>
            </a:r>
            <a:endParaRPr sz="22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200">
                <a:solidFill>
                  <a:srgbClr val="222222"/>
                </a:solidFill>
              </a:rPr>
              <a:t>h(t) — уровень воды в водоёме</a:t>
            </a:r>
            <a:endParaRPr sz="2200">
              <a:solidFill>
                <a:srgbClr val="222222"/>
              </a:solidFill>
            </a:endParaRPr>
          </a:p>
        </p:txBody>
      </p:sp>
      <p:sp>
        <p:nvSpPr>
          <p:cNvPr id="151" name="Google Shape;151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2" name="Google Shape;15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0438" y="1179488"/>
            <a:ext cx="5229225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337200" y="4199900"/>
            <a:ext cx="8188200" cy="5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rgbClr val="222222"/>
                </a:solidFill>
              </a:rPr>
              <a:t>*Коэффициент фильтрации можно посчитать через формулу Дарси</a:t>
            </a:r>
            <a:endParaRPr sz="160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420300" y="371975"/>
            <a:ext cx="8329500" cy="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Сброс воды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490950" y="2143975"/>
            <a:ext cx="8188200" cy="23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222222"/>
                </a:solidFill>
              </a:rPr>
              <a:t>Q</a:t>
            </a:r>
            <a:r>
              <a:rPr baseline="-25000" lang="ru" sz="2200">
                <a:solidFill>
                  <a:srgbClr val="222222"/>
                </a:solidFill>
              </a:rPr>
              <a:t>ctrl</a:t>
            </a:r>
            <a:r>
              <a:rPr lang="ru" sz="2200">
                <a:solidFill>
                  <a:srgbClr val="222222"/>
                </a:solidFill>
              </a:rPr>
              <a:t>(t) — контролируемый сброс воды оператором </a:t>
            </a:r>
            <a:endParaRPr sz="22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200">
                <a:solidFill>
                  <a:srgbClr val="222222"/>
                </a:solidFill>
              </a:rPr>
              <a:t>Q</a:t>
            </a:r>
            <a:r>
              <a:rPr baseline="-25000" lang="ru" sz="2200">
                <a:solidFill>
                  <a:srgbClr val="222222"/>
                </a:solidFill>
              </a:rPr>
              <a:t>spill</a:t>
            </a:r>
            <a:r>
              <a:rPr lang="ru" sz="2200">
                <a:solidFill>
                  <a:srgbClr val="222222"/>
                </a:solidFill>
              </a:rPr>
              <a:t>(t) — естественный перелив воды </a:t>
            </a:r>
            <a:r>
              <a:rPr lang="ru" sz="2200"/>
              <a:t>при достижении критического уровня воды</a:t>
            </a:r>
            <a:endParaRPr sz="2200">
              <a:solidFill>
                <a:srgbClr val="222222"/>
              </a:solidFill>
            </a:endParaRPr>
          </a:p>
        </p:txBody>
      </p:sp>
      <p:sp>
        <p:nvSpPr>
          <p:cNvPr id="160" name="Google Shape;160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713" y="1224450"/>
            <a:ext cx="7108684" cy="6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420300" y="371975"/>
            <a:ext cx="8329500" cy="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Влияние атмосферы</a:t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490950" y="2143975"/>
            <a:ext cx="8188200" cy="23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222222"/>
                </a:solidFill>
              </a:rPr>
              <a:t>A(t) — площадью зеркала водоёма</a:t>
            </a:r>
            <a:endParaRPr sz="22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222222"/>
                </a:solidFill>
              </a:rPr>
              <a:t>P(t) — интенсивность осадков</a:t>
            </a:r>
            <a:endParaRPr sz="22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200">
                <a:solidFill>
                  <a:srgbClr val="222222"/>
                </a:solidFill>
              </a:rPr>
              <a:t>E</a:t>
            </a:r>
            <a:r>
              <a:rPr lang="ru" sz="2200">
                <a:solidFill>
                  <a:srgbClr val="222222"/>
                </a:solidFill>
              </a:rPr>
              <a:t>(t) — интенсивность испарения</a:t>
            </a:r>
            <a:endParaRPr sz="2200">
              <a:solidFill>
                <a:srgbClr val="222222"/>
              </a:solidFill>
            </a:endParaRPr>
          </a:p>
        </p:txBody>
      </p:sp>
      <p:sp>
        <p:nvSpPr>
          <p:cNvPr id="168" name="Google Shape;168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88" y="1124750"/>
            <a:ext cx="7583626" cy="7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420300" y="371975"/>
            <a:ext cx="8329500" cy="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Аппроксимация</a:t>
            </a:r>
            <a:r>
              <a:rPr lang="ru"/>
              <a:t> объёма степенной функцией</a:t>
            </a:r>
            <a:endParaRPr/>
          </a:p>
        </p:txBody>
      </p:sp>
      <p:sp>
        <p:nvSpPr>
          <p:cNvPr id="175" name="Google Shape;175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4300" y="1210225"/>
            <a:ext cx="3421500" cy="68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7447" y="2166399"/>
            <a:ext cx="4369099" cy="9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538" y="3595050"/>
            <a:ext cx="7530924" cy="6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420300" y="371975"/>
            <a:ext cx="8329500" cy="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Получение итоговой формулы</a:t>
            </a:r>
            <a:endParaRPr/>
          </a:p>
        </p:txBody>
      </p:sp>
      <p:sp>
        <p:nvSpPr>
          <p:cNvPr id="184" name="Google Shape;184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5937" y="1133050"/>
            <a:ext cx="4078226" cy="75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438" y="2091875"/>
            <a:ext cx="8155223" cy="573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188" y="3100200"/>
            <a:ext cx="8245617" cy="7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type="title"/>
          </p:nvPr>
        </p:nvSpPr>
        <p:spPr>
          <a:xfrm>
            <a:off x="420300" y="371975"/>
            <a:ext cx="8329500" cy="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Сравнение с реальными данными</a:t>
            </a:r>
            <a:endParaRPr/>
          </a:p>
        </p:txBody>
      </p:sp>
      <p:sp>
        <p:nvSpPr>
          <p:cNvPr id="193" name="Google Shape;193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753900" y="1986075"/>
            <a:ext cx="7636200" cy="26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Для модели необходимы следующие параметры: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-"/>
            </a:pPr>
            <a:r>
              <a:rPr lang="ru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Естественный приток воды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-"/>
            </a:pPr>
            <a:r>
              <a:rPr lang="ru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Расход воды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-"/>
            </a:pPr>
            <a:r>
              <a:rPr lang="ru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Площадь водохранилища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-"/>
            </a:pPr>
            <a:r>
              <a:rPr lang="ru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Е</a:t>
            </a:r>
            <a:r>
              <a:rPr lang="ru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жемесячное количество осадков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-"/>
            </a:pPr>
            <a:r>
              <a:rPr lang="ru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Ежемесячная величина испарения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238" y="1232825"/>
            <a:ext cx="8245617" cy="7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420300" y="371975"/>
            <a:ext cx="8329500" cy="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Иркутское</a:t>
            </a:r>
            <a:r>
              <a:rPr lang="ru"/>
              <a:t> водохранилище</a:t>
            </a:r>
            <a:endParaRPr/>
          </a:p>
        </p:txBody>
      </p:sp>
      <p:sp>
        <p:nvSpPr>
          <p:cNvPr id="201" name="Google Shape;201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02" name="Google Shape;2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838" y="1005575"/>
            <a:ext cx="6696330" cy="383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420300" y="371975"/>
            <a:ext cx="8329500" cy="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 сравнения</a:t>
            </a:r>
            <a:endParaRPr/>
          </a:p>
        </p:txBody>
      </p:sp>
      <p:sp>
        <p:nvSpPr>
          <p:cNvPr id="208" name="Google Shape;208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500400" y="955575"/>
            <a:ext cx="81432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О</a:t>
            </a:r>
            <a:r>
              <a:rPr lang="ru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тклонения от реальных данных</a:t>
            </a:r>
            <a:r>
              <a:rPr lang="ru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-"/>
            </a:pPr>
            <a:r>
              <a:rPr lang="ru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Максимальное отклонение модели от реальных данных: 10.41см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-"/>
            </a:pPr>
            <a:r>
              <a:rPr lang="ru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Стандартное отклонение модели от реальных данных: 3.57см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-"/>
            </a:pPr>
            <a:r>
              <a:rPr lang="ru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Среднеквадратичная ошибка: 3.59см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Причины: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-"/>
            </a:pPr>
            <a:r>
              <a:rPr lang="ru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Использование усреднённых значений осадков и испарения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-"/>
            </a:pPr>
            <a:r>
              <a:rPr lang="ru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Аппроксимация объёма воды степенной функцией от высоты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/>
          <p:nvPr>
            <p:ph type="title"/>
          </p:nvPr>
        </p:nvSpPr>
        <p:spPr>
          <a:xfrm>
            <a:off x="420300" y="371975"/>
            <a:ext cx="8329500" cy="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Источники</a:t>
            </a:r>
            <a:endParaRPr/>
          </a:p>
        </p:txBody>
      </p:sp>
      <p:sp>
        <p:nvSpPr>
          <p:cNvPr id="215" name="Google Shape;215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866550" y="922350"/>
            <a:ext cx="74370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[1] Данные об Иркутском водохранилище. — Дата доступа: (11.11.2025).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https://shorturl.at/XIjcg.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[2] Данные об осадках в </a:t>
            </a:r>
            <a:r>
              <a:rPr lang="ru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Иркутске</a:t>
            </a:r>
            <a:r>
              <a:rPr lang="ru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 — Дата доступа: (11.11.2025). https://en.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climate-data.org/asia/russian-federation/irkutsk-oblast/irkutsk-473/.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[3] Оценка испарений над водоёмами. — Дата доступа: (11.11.2025). https: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//journals.ametsoc.org/view/journals/mwre/149/6/MWR-D-20-0421.1.xml.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[4] Данные об уровне воды в Иркутском водохранилище. — Дата доступа: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(11.11.2025). </a:t>
            </a:r>
            <a:r>
              <a:rPr lang="ru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https://rushydro.ru/informer/</a:t>
            </a:r>
            <a:r>
              <a:rPr lang="ru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[5] Закон Дарси. — Дата доступа: (11.11.2025). https://shorturl.at/zWYTm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